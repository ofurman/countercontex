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9" r:id="rId33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33" Type="http://schemas.openxmlformats.org/officeDocument/2006/relationships/slide" Target="slides/slide2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da12ef84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da12ef84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da12ef84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da12ef84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24df8a5c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24df8a5c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24df8a5c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24df8a5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df00bc7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df00bc7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df00bc7f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df00bc7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df00bc7f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df00bc7f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3eb76d14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3eb76d14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3eb76d14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3eb76d14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3eb76d14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3eb76d14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3eb76d147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3eb76d14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3eb76d14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3eb76d14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df00bc7f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df00bc7f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3eb76d14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3eb76d14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3eb76d14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3eb76d14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3eb76d14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3eb76d14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3eb76d14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3eb76d14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3eb76d147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3eb76d147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3eb76d147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3eb76d147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3eb76d14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3eb76d14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3eb76d147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3eb76d147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3eb76d147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3eb76d147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7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88850"/>
            <a:ext cx="8520600" cy="12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“Probabilistic Methods for Counterfactual Explanations”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8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Oleksii Furman 2nd year PhD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Supervisor: dr hab. inż. Maciej Zięba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47" y="108500"/>
            <a:ext cx="2367613" cy="63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0" l="0" r="19478" t="0"/>
          <a:stretch/>
        </p:blipFill>
        <p:spPr>
          <a:xfrm>
            <a:off x="2967051" y="118750"/>
            <a:ext cx="2584675" cy="6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0823" y="89083"/>
            <a:ext cx="2786875" cy="674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What is Counterfactual Explanations?</a:t>
            </a:r>
            <a:endParaRPr/>
          </a:p>
        </p:txBody>
      </p:sp>
      <p:pic>
        <p:nvPicPr>
          <p:cNvPr id="64" name="Google Shape;64;p14" title="Screenshot 2025-05-22 at 14.57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463" y="1081075"/>
            <a:ext cx="526308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What is Counterfactual Explanation (CF)?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464" y="962325"/>
            <a:ext cx="4745276" cy="30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750" y="1593475"/>
            <a:ext cx="3934426" cy="4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2256225" y="2639525"/>
            <a:ext cx="1712100" cy="91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1"/>
                </a:solidFill>
              </a:rPr>
              <a:t>Distance between original input and CF</a:t>
            </a:r>
            <a:endParaRPr sz="1200"/>
          </a:p>
        </p:txBody>
      </p:sp>
      <p:sp>
        <p:nvSpPr>
          <p:cNvPr id="73" name="Google Shape;73;p15"/>
          <p:cNvSpPr/>
          <p:nvPr/>
        </p:nvSpPr>
        <p:spPr>
          <a:xfrm>
            <a:off x="212750" y="2639525"/>
            <a:ext cx="1712100" cy="91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1"/>
                </a:solidFill>
              </a:rPr>
              <a:t>Difference between model prediction for CF and desired outcome</a:t>
            </a:r>
            <a:endParaRPr sz="1200"/>
          </a:p>
        </p:txBody>
      </p:sp>
      <p:sp>
        <p:nvSpPr>
          <p:cNvPr id="74" name="Google Shape;74;p15"/>
          <p:cNvSpPr/>
          <p:nvPr/>
        </p:nvSpPr>
        <p:spPr>
          <a:xfrm>
            <a:off x="1999025" y="1647200"/>
            <a:ext cx="1167900" cy="376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3384475" y="1647200"/>
            <a:ext cx="712500" cy="376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15"/>
          <p:cNvCxnSpPr>
            <a:stCxn id="73" idx="0"/>
            <a:endCxn id="74" idx="2"/>
          </p:cNvCxnSpPr>
          <p:nvPr/>
        </p:nvCxnSpPr>
        <p:spPr>
          <a:xfrm flipH="1" rot="10800000">
            <a:off x="1068800" y="2023325"/>
            <a:ext cx="1514100" cy="6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>
            <a:stCxn id="72" idx="0"/>
            <a:endCxn id="75" idx="2"/>
          </p:cNvCxnSpPr>
          <p:nvPr/>
        </p:nvCxnSpPr>
        <p:spPr>
          <a:xfrm flipH="1" rot="10800000">
            <a:off x="3112275" y="2023325"/>
            <a:ext cx="628500" cy="6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600"/>
            <a:ext cx="8839201" cy="3777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68586" l="0" r="0" t="0"/>
          <a:stretch/>
        </p:blipFill>
        <p:spPr>
          <a:xfrm>
            <a:off x="180513" y="866650"/>
            <a:ext cx="8782974" cy="3410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pl" sz="1500">
                <a:solidFill>
                  <a:schemeClr val="dk1"/>
                </a:solidFill>
              </a:rPr>
              <a:t xml:space="preserve">Validity: </a:t>
            </a:r>
            <a:r>
              <a:rPr lang="pl" sz="1500">
                <a:solidFill>
                  <a:schemeClr val="dk1"/>
                </a:solidFill>
              </a:rPr>
              <a:t>ensuring the counterfactual changes the outcome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pl" sz="1500">
                <a:solidFill>
                  <a:schemeClr val="dk1"/>
                </a:solidFill>
              </a:rPr>
              <a:t xml:space="preserve">Sparsity: </a:t>
            </a:r>
            <a:r>
              <a:rPr lang="pl" sz="1500">
                <a:solidFill>
                  <a:schemeClr val="dk1"/>
                </a:solidFill>
              </a:rPr>
              <a:t>minimizing the number of feature changes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pl" sz="1500">
                <a:solidFill>
                  <a:schemeClr val="dk1"/>
                </a:solidFill>
              </a:rPr>
              <a:t xml:space="preserve">Similarity(proximity): </a:t>
            </a:r>
            <a:r>
              <a:rPr lang="pl" sz="1500">
                <a:solidFill>
                  <a:schemeClr val="dk1"/>
                </a:solidFill>
              </a:rPr>
              <a:t>keeping the counterfactual close to the original input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pl" sz="1500">
                <a:solidFill>
                  <a:schemeClr val="dk1"/>
                </a:solidFill>
              </a:rPr>
              <a:t>Plausibility</a:t>
            </a:r>
            <a:r>
              <a:rPr lang="pl" sz="1500">
                <a:solidFill>
                  <a:schemeClr val="dk1"/>
                </a:solidFill>
              </a:rPr>
              <a:t>: ensuring the counterfactual is realistic.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pl" sz="1500">
                <a:solidFill>
                  <a:schemeClr val="dk1"/>
                </a:solidFill>
              </a:rPr>
              <a:t>Actionability</a:t>
            </a:r>
            <a:r>
              <a:rPr lang="pl" sz="1500">
                <a:solidFill>
                  <a:schemeClr val="dk1"/>
                </a:solidFill>
              </a:rPr>
              <a:t>: focusing on features that can be practically changed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pl" sz="1500">
                <a:solidFill>
                  <a:schemeClr val="dk1"/>
                </a:solidFill>
              </a:rPr>
              <a:t>Diversity</a:t>
            </a:r>
            <a:r>
              <a:rPr lang="pl" sz="1500">
                <a:solidFill>
                  <a:schemeClr val="dk1"/>
                </a:solidFill>
              </a:rPr>
              <a:t>: Most methods produce single or few counterfactual candidates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pl" sz="1500">
                <a:solidFill>
                  <a:schemeClr val="dk1"/>
                </a:solidFill>
              </a:rPr>
              <a:t>Robustness</a:t>
            </a:r>
            <a:r>
              <a:rPr lang="pl" sz="1500">
                <a:solidFill>
                  <a:schemeClr val="dk1"/>
                </a:solidFill>
              </a:rPr>
              <a:t>: Explanations become invalid when models are updated or retrained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pl" sz="1500">
                <a:solidFill>
                  <a:schemeClr val="dk1"/>
                </a:solidFill>
              </a:rPr>
              <a:t xml:space="preserve">Fairness: </a:t>
            </a:r>
            <a:r>
              <a:rPr lang="pl" sz="1500">
                <a:solidFill>
                  <a:schemeClr val="dk1"/>
                </a:solidFill>
              </a:rPr>
              <a:t>ensures that CEs are equitable across demographic groups, avoiding biased, unfeasible, or inconsistent recourse options.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pl" sz="1500">
                <a:solidFill>
                  <a:schemeClr val="dk1"/>
                </a:solidFill>
              </a:rPr>
              <a:t>Causal Reasoning</a:t>
            </a:r>
            <a:r>
              <a:rPr lang="pl" sz="1500">
                <a:solidFill>
                  <a:schemeClr val="dk1"/>
                </a:solidFill>
              </a:rPr>
              <a:t>: Explanations do not ignore real-world causal dependencies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Properties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Research Gap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 xml:space="preserve">Substantial gap in developing comprehensive </a:t>
            </a:r>
            <a:r>
              <a:rPr b="1" lang="pl" sz="1600">
                <a:solidFill>
                  <a:schemeClr val="dk1"/>
                </a:solidFill>
              </a:rPr>
              <a:t>probabilistic frameworks</a:t>
            </a:r>
            <a:r>
              <a:rPr lang="pl" sz="1600">
                <a:solidFill>
                  <a:schemeClr val="dk1"/>
                </a:solidFill>
              </a:rPr>
              <a:t xml:space="preserve"> for counterfactual explanations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 xml:space="preserve">Need for methods that ensure </a:t>
            </a:r>
            <a:r>
              <a:rPr b="1" lang="pl" sz="1600">
                <a:solidFill>
                  <a:schemeClr val="dk1"/>
                </a:solidFill>
              </a:rPr>
              <a:t>validity, plausibility, robustness, and diversity</a:t>
            </a:r>
            <a:r>
              <a:rPr lang="pl" sz="1600">
                <a:solidFill>
                  <a:schemeClr val="dk1"/>
                </a:solidFill>
              </a:rPr>
              <a:t xml:space="preserve"> simultaneously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l" sz="1600">
                <a:solidFill>
                  <a:schemeClr val="dk1"/>
                </a:solidFill>
              </a:rPr>
              <a:t>Causality</a:t>
            </a:r>
            <a:r>
              <a:rPr lang="pl" sz="1600">
                <a:solidFill>
                  <a:schemeClr val="dk1"/>
                </a:solidFill>
              </a:rPr>
              <a:t xml:space="preserve"> integration into counterfactual explanations.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l" sz="1600">
                <a:solidFill>
                  <a:schemeClr val="dk1"/>
                </a:solidFill>
              </a:rPr>
              <a:t>Fairness</a:t>
            </a:r>
            <a:r>
              <a:rPr lang="pl" sz="1600">
                <a:solidFill>
                  <a:schemeClr val="dk1"/>
                </a:solidFill>
              </a:rPr>
              <a:t xml:space="preserve"> in Counterfactual Explanations.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247125"/>
            <a:ext cx="8520600" cy="8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PPCEF: Probabilistically Plausible Counterfactual Explanations with Normalizing Flows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150" y="1295150"/>
            <a:ext cx="5427701" cy="3287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9800" y="285037"/>
            <a:ext cx="1250850" cy="7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0163" y="303350"/>
            <a:ext cx="5318477" cy="20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263" y="2192425"/>
            <a:ext cx="4109224" cy="23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951" y="2192425"/>
            <a:ext cx="4502637" cy="272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0163" y="303350"/>
            <a:ext cx="5318477" cy="20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263" y="2192425"/>
            <a:ext cx="4109224" cy="23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951" y="2192425"/>
            <a:ext cx="4502637" cy="272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 rotWithShape="1">
          <a:blip r:embed="rId6">
            <a:alphaModFix/>
          </a:blip>
          <a:srcRect b="0" l="30464" r="0" t="65067"/>
          <a:stretch/>
        </p:blipFill>
        <p:spPr>
          <a:xfrm>
            <a:off x="4966187" y="3449025"/>
            <a:ext cx="4003702" cy="107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5834938" y="3195038"/>
            <a:ext cx="226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Normalizing Flow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3" name="Google Shape;123;p22"/>
          <p:cNvCxnSpPr>
            <a:stCxn id="122" idx="0"/>
          </p:cNvCxnSpPr>
          <p:nvPr/>
        </p:nvCxnSpPr>
        <p:spPr>
          <a:xfrm flipH="1" rot="10800000">
            <a:off x="6968038" y="2295938"/>
            <a:ext cx="543000" cy="89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3801" y="370075"/>
            <a:ext cx="5676401" cy="304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3880" y="3782987"/>
            <a:ext cx="4656240" cy="9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887100" y="1017725"/>
            <a:ext cx="736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 xml:space="preserve">Multiple diverse counterfactuals to provide users with different </a:t>
            </a:r>
            <a:r>
              <a:rPr lang="pl">
                <a:solidFill>
                  <a:schemeClr val="dk1"/>
                </a:solidFill>
              </a:rPr>
              <a:t>options</a:t>
            </a:r>
            <a:r>
              <a:rPr lang="pl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Diversity in Counterfactual Explanations</a:t>
            </a:r>
            <a:endParaRPr b="1"/>
          </a:p>
        </p:txBody>
      </p:sp>
      <p:pic>
        <p:nvPicPr>
          <p:cNvPr id="140" name="Google Shape;140;p25"/>
          <p:cNvPicPr preferRelativeResize="0"/>
          <p:nvPr/>
        </p:nvPicPr>
        <p:blipFill rotWithShape="1">
          <a:blip r:embed="rId3">
            <a:alphaModFix/>
          </a:blip>
          <a:srcRect b="6976" l="8847" r="17855" t="9982"/>
          <a:stretch/>
        </p:blipFill>
        <p:spPr>
          <a:xfrm>
            <a:off x="1980238" y="1563575"/>
            <a:ext cx="5183524" cy="330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 rotWithShape="1">
          <a:blip r:embed="rId3">
            <a:alphaModFix/>
          </a:blip>
          <a:srcRect b="37407" l="43339" r="52463" t="56626"/>
          <a:stretch/>
        </p:blipFill>
        <p:spPr>
          <a:xfrm>
            <a:off x="4997530" y="2255075"/>
            <a:ext cx="296874" cy="237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25"/>
          <p:cNvCxnSpPr/>
          <p:nvPr/>
        </p:nvCxnSpPr>
        <p:spPr>
          <a:xfrm flipH="1" rot="10800000">
            <a:off x="3523025" y="3612175"/>
            <a:ext cx="969900" cy="4848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5"/>
          <p:cNvSpPr txBox="1"/>
          <p:nvPr/>
        </p:nvSpPr>
        <p:spPr>
          <a:xfrm>
            <a:off x="4397800" y="3176875"/>
            <a:ext cx="21771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Increase Salary by $1000</a:t>
            </a:r>
            <a:endParaRPr b="1" sz="12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" name="Google Shape;144;p25"/>
          <p:cNvCxnSpPr/>
          <p:nvPr/>
        </p:nvCxnSpPr>
        <p:spPr>
          <a:xfrm flipH="1" rot="10800000">
            <a:off x="3513125" y="4156350"/>
            <a:ext cx="2286000" cy="198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5"/>
          <p:cNvSpPr txBox="1"/>
          <p:nvPr/>
        </p:nvSpPr>
        <p:spPr>
          <a:xfrm>
            <a:off x="5680375" y="3740850"/>
            <a:ext cx="21771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Decrease Debt by $500</a:t>
            </a:r>
            <a:endParaRPr b="1" sz="12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" name="Google Shape;146;p25"/>
          <p:cNvCxnSpPr/>
          <p:nvPr/>
        </p:nvCxnSpPr>
        <p:spPr>
          <a:xfrm flipH="1" rot="10800000">
            <a:off x="3453750" y="2434425"/>
            <a:ext cx="1573500" cy="15933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5"/>
          <p:cNvSpPr txBox="1"/>
          <p:nvPr/>
        </p:nvSpPr>
        <p:spPr>
          <a:xfrm>
            <a:off x="4997525" y="1999125"/>
            <a:ext cx="21771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Obtain a Master Degree</a:t>
            </a:r>
            <a:endParaRPr b="1" sz="12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0" y="4720325"/>
            <a:ext cx="8406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Mothilal, Ramaravind K. et al. "Explaining machine learning classifiers through diverse counterfactual explanations." FAccT. 2020.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21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120"/>
              <a:t>DiCoFlex: Model-agnostic diverse counterfactuals with flexible control</a:t>
            </a:r>
            <a:endParaRPr sz="2120"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4946" y="790100"/>
            <a:ext cx="539030" cy="69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6475" y="790100"/>
            <a:ext cx="418470" cy="695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068775"/>
            <a:ext cx="8602276" cy="2742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8" y="1186088"/>
            <a:ext cx="4484275" cy="4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 txBox="1"/>
          <p:nvPr/>
        </p:nvSpPr>
        <p:spPr>
          <a:xfrm>
            <a:off x="311700" y="790100"/>
            <a:ext cx="29094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Normalizing Flow Model: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21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120"/>
              <a:t>DiCoFlex: Model-agnostic diverse counterfactuals with flexible control</a:t>
            </a:r>
            <a:endParaRPr sz="2120"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4946" y="790100"/>
            <a:ext cx="539030" cy="69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6475" y="790100"/>
            <a:ext cx="418470" cy="695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98" y="1186088"/>
            <a:ext cx="4484275" cy="4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311700" y="790100"/>
            <a:ext cx="29094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Normalizing Flow Model: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2613" y="1880251"/>
            <a:ext cx="5218774" cy="284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21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120"/>
              <a:t>DiCoFlex: Model-agnostic diverse counterfactuals with flexible control</a:t>
            </a:r>
            <a:endParaRPr sz="2120"/>
          </a:p>
        </p:txBody>
      </p:sp>
      <p:pic>
        <p:nvPicPr>
          <p:cNvPr id="174" name="Google Shape;1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1263" y="681475"/>
            <a:ext cx="4621476" cy="189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349" y="2475050"/>
            <a:ext cx="7146225" cy="227855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/>
        </p:nvSpPr>
        <p:spPr>
          <a:xfrm>
            <a:off x="1314469" y="4669671"/>
            <a:ext cx="1352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150" lIns="86150" spcFirstLastPara="1" rIns="86150" wrap="square" tIns="86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 xml:space="preserve">p=2.0, </a:t>
            </a:r>
            <a:r>
              <a:rPr b="1" lang="pl" sz="1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pl" sz="1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=[1,1]</a:t>
            </a:r>
            <a:endParaRPr sz="131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3697330" y="4669671"/>
            <a:ext cx="1352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150" lIns="86150" spcFirstLastPara="1" rIns="86150" wrap="square" tIns="86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 xml:space="preserve">p=0.01, </a:t>
            </a:r>
            <a:r>
              <a:rPr b="1" lang="pl" sz="1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pl" sz="1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=[1,1]</a:t>
            </a:r>
            <a:endParaRPr sz="131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6265751" y="4669671"/>
            <a:ext cx="1352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150" lIns="86150" spcFirstLastPara="1" rIns="86150" wrap="square" tIns="86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 xml:space="preserve">p=0.01, </a:t>
            </a:r>
            <a:r>
              <a:rPr b="1" lang="pl" sz="1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pl" sz="131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=[0,1]</a:t>
            </a:r>
            <a:endParaRPr sz="131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21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120"/>
              <a:t>DiCoFlex: Model-agnostic diverse counterfactuals with flexible control</a:t>
            </a:r>
            <a:endParaRPr sz="2120"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425" y="1603537"/>
            <a:ext cx="3507510" cy="211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0587" y="3718950"/>
            <a:ext cx="2401175" cy="2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875" y="1204238"/>
            <a:ext cx="4784444" cy="291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650" y="1025262"/>
            <a:ext cx="4128901" cy="1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21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120"/>
              <a:t>DiCoFlex: Model-agnostic diverse counterfactuals with flexible control</a:t>
            </a:r>
            <a:endParaRPr sz="2120"/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625" y="1343400"/>
            <a:ext cx="6160775" cy="24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Work In Progress:</a:t>
            </a:r>
            <a:endParaRPr/>
          </a:p>
        </p:txBody>
      </p:sp>
      <p:sp>
        <p:nvSpPr>
          <p:cNvPr id="199" name="Google Shape;199;p31"/>
          <p:cNvSpPr txBox="1"/>
          <p:nvPr>
            <p:ph idx="4294967295" type="title"/>
          </p:nvPr>
        </p:nvSpPr>
        <p:spPr>
          <a:xfrm>
            <a:off x="311700" y="2797175"/>
            <a:ext cx="8520600" cy="11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020"/>
              <a:t xml:space="preserve">1. </a:t>
            </a:r>
            <a:r>
              <a:rPr lang="pl" sz="2020"/>
              <a:t>Generative CEs without ground truth at all (Generative Flow Networks)</a:t>
            </a:r>
            <a:endParaRPr sz="2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020"/>
              <a:t>3. In Context CE generation</a:t>
            </a:r>
            <a:endParaRPr sz="202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21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120"/>
              <a:t>Generative Flow Networks:</a:t>
            </a:r>
            <a:endParaRPr sz="2120"/>
          </a:p>
        </p:txBody>
      </p:sp>
      <p:pic>
        <p:nvPicPr>
          <p:cNvPr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50" y="2510851"/>
            <a:ext cx="8144502" cy="263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159052"/>
            <a:ext cx="4072250" cy="2460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00" y="21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120"/>
              <a:t>CounterFlowNet: From Minimal Changes to Meaningful Counterfactual Explanations</a:t>
            </a:r>
            <a:endParaRPr sz="2120"/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0750"/>
            <a:ext cx="8839203" cy="3686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4363"/>
            <a:ext cx="8839200" cy="366732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21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120"/>
              <a:t>CounterFlowNet: From Minimal Changes to Meaningful Counterfactual Explanations</a:t>
            </a:r>
            <a:endParaRPr sz="212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Thank you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for your attention</a:t>
            </a:r>
            <a:endParaRPr/>
          </a:p>
        </p:txBody>
      </p:sp>
      <p:sp>
        <p:nvSpPr>
          <p:cNvPr id="224" name="Google Shape;224;p35"/>
          <p:cNvSpPr txBox="1"/>
          <p:nvPr>
            <p:ph idx="1" type="subTitle"/>
          </p:nvPr>
        </p:nvSpPr>
        <p:spPr>
          <a:xfrm>
            <a:off x="311700" y="4308650"/>
            <a:ext cx="8520600" cy="18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Oleksii Furman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CounterPFN: In-Context Counterfactual Generation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Training Data: Structural Causal Models (SCMs)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>
                <a:solidFill>
                  <a:schemeClr val="dk1"/>
                </a:solidFill>
              </a:rPr>
              <a:t>Sample random MLP-based SCMs to define causal graphs and mechanisms</a:t>
            </a:r>
            <a:endParaRPr sz="14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>
                <a:solidFill>
                  <a:schemeClr val="dk1"/>
                </a:solidFill>
              </a:rPr>
              <a:t xml:space="preserve">Generate ground-truth counterfactual pairs via Pearl’s </a:t>
            </a:r>
            <a:r>
              <a:rPr b="1" lang="en-US" sz="1400">
                <a:solidFill>
                  <a:schemeClr val="dk1"/>
                </a:solidFill>
              </a:rPr>
              <a:t>abduction-action-prediction</a:t>
            </a:r>
            <a:endParaRPr sz="14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>
                <a:solidFill>
                  <a:schemeClr val="dk1"/>
                </a:solidFill>
              </a:rPr>
              <a:t>Each SCM produces (factual, intervention) → counterfactual supervision pairs</a:t>
            </a:r>
            <a:endParaRPr sz="14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>
                <a:solidFill>
                  <a:schemeClr val="dk1"/>
                </a:solidFill>
              </a:rPr>
              <a:t>Causal consistency is built into the data, not added as a regularizer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20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Generation Model: TabPFN (Prior-Fitted Network)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>
                <a:solidFill>
                  <a:schemeClr val="dk1"/>
                </a:solidFill>
              </a:rPr>
              <a:t>Transformer pre-trained on diverse synthetic SCM datasets</a:t>
            </a:r>
            <a:endParaRPr sz="14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b="1" lang="en-US" sz="1400">
                <a:solidFill>
                  <a:schemeClr val="dk1"/>
                </a:solidFill>
              </a:rPr>
              <a:t>In-context learning:</a:t>
            </a:r>
            <a:r>
              <a:rPr lang="en-US" sz="1400">
                <a:solidFill>
                  <a:schemeClr val="dk1"/>
                </a:solidFill>
              </a:rPr>
              <a:t xml:space="preserve"> infers causal structure from context data at inference time</a:t>
            </a:r>
            <a:endParaRPr sz="14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>
                <a:solidFill>
                  <a:schemeClr val="dk1"/>
                </a:solidFill>
              </a:rPr>
              <a:t>Single forward pass generates counterfactuals for any new dataset (no retraining)</a:t>
            </a:r>
            <a:endParaRPr sz="14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>
                <a:solidFill>
                  <a:schemeClr val="dk1"/>
                </a:solidFill>
              </a:rPr>
              <a:t xml:space="preserve">Predicts </a:t>
            </a:r>
            <a:r>
              <a:rPr b="1" lang="en-US" sz="1400">
                <a:solidFill>
                  <a:schemeClr val="dk1"/>
                </a:solidFill>
              </a:rPr>
              <a:t>Δ = x_cf − x_factual</a:t>
            </a:r>
            <a:r>
              <a:rPr lang="en-US" sz="1400">
                <a:solidFill>
                  <a:schemeClr val="dk1"/>
                </a:solidFill>
              </a:rPr>
              <a:t xml:space="preserve"> — the minimal change to flip the predicted outcome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